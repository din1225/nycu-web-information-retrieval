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49B0CC9-0746-4476-85D7-88C3E481FC8E}">
  <a:tblStyle styleId="{E49B0CC9-0746-4476-85D7-88C3E481FC8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73A2766-EBB3-45C7-974A-092212601F0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1"/>
  </p:normalViewPr>
  <p:slideViewPr>
    <p:cSldViewPr snapToGrid="0">
      <p:cViewPr varScale="1">
        <p:scale>
          <a:sx n="153" d="100"/>
          <a:sy n="153" d="100"/>
        </p:scale>
        <p:origin x="632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9b521b7b2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g3e9b521b7b2_2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" name="Google Shape;53;g3e9b521b7b2_2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altLang="zh-TW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9b521b7b2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g3e9b521b7b2_2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61" name="Google Shape;61;g3e9b521b7b2_2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altLang="zh-TW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e9cc3c414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e9cc3c414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76be474a7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e76be474a7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76be474a7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e76be474a7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76be474a7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76be474a7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76be474a7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e76be474a7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76be474a7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e76be474a7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76be474a7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e76be474a7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76be474a7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e76be474a7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76be474a7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e76be474a7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ea1686714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ea1686714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a1686714a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ea1686714a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/>
        </p:nvSpPr>
        <p:spPr>
          <a:xfrm>
            <a:off x="0" y="2657500"/>
            <a:ext cx="91440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zh-TW" sz="20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組別：第六組   </a:t>
            </a:r>
            <a:endParaRPr sz="20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zh-TW" sz="20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組員：</a:t>
            </a:r>
            <a:r>
              <a:rPr lang="zh-TW" sz="2000" i="0" u="none" strike="noStrike" cap="none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劉馨 &amp; 林鼎翔 </a:t>
            </a:r>
            <a:endParaRPr sz="2000" i="0" u="none" strike="noStrike" cap="none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1500800"/>
            <a:ext cx="9144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IR Project Presentation</a:t>
            </a:r>
            <a:endParaRPr sz="3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489350" y="508325"/>
            <a:ext cx="46710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zh-TW" sz="3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Presentation Outline</a:t>
            </a:r>
            <a:endParaRPr sz="3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585550" y="1632900"/>
            <a:ext cx="6970800" cy="18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68300" algn="l" rtl="0">
              <a:lnSpc>
                <a:spcPct val="2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zh-TW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內部評估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83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zh-TW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方法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83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zh-TW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結果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/>
        </p:nvSpPr>
        <p:spPr>
          <a:xfrm>
            <a:off x="723050" y="392250"/>
            <a:ext cx="42627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內部評估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723050" y="1172650"/>
            <a:ext cx="7938300" cy="35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評估指標：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MAP@10</a:t>
            </a:r>
            <a:r>
              <a:rPr lang="zh-TW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：評估前 10 筆結果的整體檢索品質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MAP@30</a:t>
            </a:r>
            <a:r>
              <a:rPr lang="zh-TW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：評估前 30 筆結果的整體檢索品質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MRR</a:t>
            </a:r>
            <a:r>
              <a:rPr lang="zh-TW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：評估第一篇相關文件出現的位置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NDCG@10</a:t>
            </a:r>
            <a:r>
              <a:rPr lang="zh-TW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：評估前 10 筆結果的相關性與排序品質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NDCG@30</a:t>
            </a:r>
            <a:r>
              <a:rPr lang="zh-TW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：評估前 30 筆結果的相關性與排序品質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Mean Rank</a:t>
            </a:r>
            <a:r>
              <a:rPr lang="zh-TW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：各項指標的平均排名</a:t>
            </a:r>
            <a:endParaRPr sz="1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評估方式：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用 Phase 1 的 query 和公布的標記結果，對我們的實作方法檢索出的資料進行評估。評估只考慮同時存在於標記結果與實作方法檢索的資料。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/>
        </p:nvSpPr>
        <p:spPr>
          <a:xfrm>
            <a:off x="362325" y="392250"/>
            <a:ext cx="4623300" cy="11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內部評估結果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2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1">
              <a:solidFill>
                <a:schemeClr val="dk2"/>
              </a:solidFill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362338" y="1164575"/>
            <a:ext cx="8630700" cy="31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可能問題一：ReFIT 使用 Rerank 的結果去更新 query embeddings，向量偏離原有語意，造成檢索能力變差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實驗一：使用相同的實驗設置，比較有無使用 ReFIT 的檢索結果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實驗設置：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模型：Qwen3-Embedding-4B + Qwen3-Reranker-4B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檢索對象：問題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實驗結果：不使用 ReFIT 更新 embedings 的方法檢索效果較好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79" name="Google Shape;79;p16"/>
          <p:cNvGraphicFramePr/>
          <p:nvPr/>
        </p:nvGraphicFramePr>
        <p:xfrm>
          <a:off x="557963" y="3349030"/>
          <a:ext cx="8028050" cy="793242"/>
        </p:xfrm>
        <a:graphic>
          <a:graphicData uri="http://schemas.openxmlformats.org/drawingml/2006/table">
            <a:tbl>
              <a:tblPr>
                <a:noFill/>
                <a:tableStyleId>{E49B0CC9-0746-4476-85D7-88C3E481FC8E}</a:tableStyleId>
              </a:tblPr>
              <a:tblGrid>
                <a:gridCol w="197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9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93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7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比較有無使用 ReFIT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MAP@10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MAP@30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MRR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NDCG@10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NDCG@30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Mean_rank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使用 ReFIT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0.4059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0.3543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0.7750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0.6470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0.6363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8.2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不使用 </a:t>
                      </a: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ReFIT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0.4531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0.2627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0.6167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0.6826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0.8443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6.8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0" name="Google Shape;80;p16"/>
          <p:cNvSpPr/>
          <p:nvPr/>
        </p:nvSpPr>
        <p:spPr>
          <a:xfrm>
            <a:off x="557975" y="3855821"/>
            <a:ext cx="8038800" cy="2991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/>
        </p:nvSpPr>
        <p:spPr>
          <a:xfrm>
            <a:off x="362325" y="353000"/>
            <a:ext cx="4623300" cy="11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內部評估結果 (Cont.)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2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1600" b="1">
              <a:solidFill>
                <a:schemeClr val="dk2"/>
              </a:solidFill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362325" y="1149725"/>
            <a:ext cx="8630700" cy="26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可能問題二：使用的模型影響檢索能力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實驗二：使用不同模型組合 ，比較四種模型組合的檢索結果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實驗設置：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檢索對象：問題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實驗結果：使用 qwen-embedding + qwen-reranker 的模型組合最好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8" name="Google Shape;88;p17"/>
          <p:cNvGraphicFramePr/>
          <p:nvPr/>
        </p:nvGraphicFramePr>
        <p:xfrm>
          <a:off x="404763" y="3088822"/>
          <a:ext cx="8491300" cy="1183515"/>
        </p:xfrm>
        <a:graphic>
          <a:graphicData uri="http://schemas.openxmlformats.org/drawingml/2006/table">
            <a:tbl>
              <a:tblPr>
                <a:noFill/>
                <a:tableStyleId>{E49B0CC9-0746-4476-85D7-88C3E481FC8E}</a:tableStyleId>
              </a:tblPr>
              <a:tblGrid>
                <a:gridCol w="355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3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3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3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3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3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3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7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比較不同模型組合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MAP@10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MAP@30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MRR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NDCG@10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NDCG@30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Mean_rank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Qwen3-Embedding-4B + Qwen3-Reranker-4B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0.4531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0.2627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0.6167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0.6826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0.8443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6.8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bge-m3 + Qwen3-Reranker-4B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0.4438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0.2512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0.6283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0.6769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0.8326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7.0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Qwen3-Embedding-4B + bge-reranker-v2-m3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0.3995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0.2553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0.7750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0.6513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0.8510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7.4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bge-m3 + bge-reranker-v2-m3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0.3197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0.2014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0.7000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0.6005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0.8087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7.4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9" name="Google Shape;89;p17"/>
          <p:cNvSpPr/>
          <p:nvPr/>
        </p:nvSpPr>
        <p:spPr>
          <a:xfrm>
            <a:off x="404775" y="3338161"/>
            <a:ext cx="8491200" cy="2475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/>
        </p:nvSpPr>
        <p:spPr>
          <a:xfrm>
            <a:off x="362325" y="353000"/>
            <a:ext cx="4623300" cy="11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內部評估結果 (Cont.)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2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1600" b="1">
              <a:solidFill>
                <a:schemeClr val="dk2"/>
              </a:solidFill>
            </a:endParaRPr>
          </a:p>
        </p:txBody>
      </p:sp>
      <p:sp>
        <p:nvSpPr>
          <p:cNvPr id="96" name="Google Shape;96;p18"/>
          <p:cNvSpPr txBox="1"/>
          <p:nvPr/>
        </p:nvSpPr>
        <p:spPr>
          <a:xfrm>
            <a:off x="362325" y="1149725"/>
            <a:ext cx="8630700" cy="3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可能問題三：檢索對象的資訊量多寡影響檢索能力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實驗三：使用相同的模型設置，比較不同的檢索對象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實驗設置：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模型：Qwen3-Embedding-4B + Qwen3-Reranker-4B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檢索對象：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○"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問題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○"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問題＋回覆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實驗結果：檢索對象加入回覆會提升檢索能力</a:t>
            </a:r>
            <a:endParaRPr sz="1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7" name="Google Shape;97;p18"/>
          <p:cNvGraphicFramePr/>
          <p:nvPr/>
        </p:nvGraphicFramePr>
        <p:xfrm>
          <a:off x="749775" y="3759617"/>
          <a:ext cx="7644425" cy="793242"/>
        </p:xfrm>
        <a:graphic>
          <a:graphicData uri="http://schemas.openxmlformats.org/drawingml/2006/table">
            <a:tbl>
              <a:tblPr>
                <a:noFill/>
                <a:tableStyleId>{E49B0CC9-0746-4476-85D7-88C3E481FC8E}</a:tableStyleId>
              </a:tblPr>
              <a:tblGrid>
                <a:gridCol w="2116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1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1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1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1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1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1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7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比較檢索對象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MAP@10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MAP@30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MRR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NDCG@10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NDCG@30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Mean_rank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檢索對象：</a:t>
                      </a: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問題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0.4531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0.2627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0.6167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0.6826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0.8443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6.8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檢索對象：</a:t>
                      </a: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問題+回覆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0.5267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0.2847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0.7218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0.7122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0.8509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6.2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8" name="Google Shape;98;p18"/>
          <p:cNvSpPr/>
          <p:nvPr/>
        </p:nvSpPr>
        <p:spPr>
          <a:xfrm>
            <a:off x="749775" y="4276210"/>
            <a:ext cx="7644300" cy="2991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/>
        </p:nvSpPr>
        <p:spPr>
          <a:xfrm>
            <a:off x="362325" y="353000"/>
            <a:ext cx="6566100" cy="11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內部評估結果 (Cont.)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2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1600" b="1">
              <a:solidFill>
                <a:schemeClr val="dk2"/>
              </a:solidFill>
            </a:endParaRPr>
          </a:p>
        </p:txBody>
      </p:sp>
      <p:sp>
        <p:nvSpPr>
          <p:cNvPr id="105" name="Google Shape;105;p19"/>
          <p:cNvSpPr txBox="1"/>
          <p:nvPr/>
        </p:nvSpPr>
        <p:spPr>
          <a:xfrm>
            <a:off x="362325" y="1149725"/>
            <a:ext cx="8630700" cy="30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可能問題四：只做語意檢索可能檢索能力不夠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實驗設置：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模型：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○"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Qwen3-Embedding-4B -&gt; Qwen3-Reranker-4B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BM25 + Qwen3-Embedding-4B -&gt; union -&gt; Qwen3-Reranker-4B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檢索對象：問題＋回覆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實驗結果：加入關鍵字檢索會提升檢索能力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6" name="Google Shape;106;p19"/>
          <p:cNvGraphicFramePr/>
          <p:nvPr/>
        </p:nvGraphicFramePr>
        <p:xfrm>
          <a:off x="341288" y="3542687"/>
          <a:ext cx="8461400" cy="762000"/>
        </p:xfrm>
        <a:graphic>
          <a:graphicData uri="http://schemas.openxmlformats.org/drawingml/2006/table">
            <a:tbl>
              <a:tblPr>
                <a:noFill/>
                <a:tableStyleId>{E49B0CC9-0746-4476-85D7-88C3E481FC8E}</a:tableStyleId>
              </a:tblPr>
              <a:tblGrid>
                <a:gridCol w="334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3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3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3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3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7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有無加入關鍵字檢索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MAP@10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MAP@30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MRR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NDCG@10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NDCG@30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Mean_rank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Retrieve: Qwen3-Embedding-4B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0.5267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0.2847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0.7218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0.7122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0.8509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6.2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Retrieve: BM25 union Qwen3-Embedding-4B 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0.6322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0.3856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0.8533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0.7858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0.9119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4.4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7" name="Google Shape;107;p19"/>
          <p:cNvSpPr/>
          <p:nvPr/>
        </p:nvSpPr>
        <p:spPr>
          <a:xfrm>
            <a:off x="341300" y="4042823"/>
            <a:ext cx="8461500" cy="2667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/>
        </p:nvSpPr>
        <p:spPr>
          <a:xfrm>
            <a:off x="362325" y="353000"/>
            <a:ext cx="6566100" cy="11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內部評估結果 (Cont.)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2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1600" b="1">
              <a:solidFill>
                <a:schemeClr val="dk2"/>
              </a:solidFill>
            </a:endParaRPr>
          </a:p>
        </p:txBody>
      </p:sp>
      <p:sp>
        <p:nvSpPr>
          <p:cNvPr id="114" name="Google Shape;114;p20"/>
          <p:cNvSpPr txBox="1"/>
          <p:nvPr/>
        </p:nvSpPr>
        <p:spPr>
          <a:xfrm>
            <a:off x="362325" y="1149725"/>
            <a:ext cx="8630700" cy="24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可能問題五：有些回覆即使語意相似仍然沒有適當回答問題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實驗設置：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模型：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BM25+ Qwen3-Embedding-4B -&gt; union -&gt; Qwen3-Reranker-4B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BM25+ Qwen3-Embedding-4B -&gt; union -&gt; Qwen3-Reranker-4B + LLM風險懲罰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檢索對象：問題＋回覆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LLM風險懲罰權重：0.1 / 0.2 / 0.3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實驗結果：加入LLM風險懲罰後，且LLM風險懲罰權重＝0.2 時，檢索能力最好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15" name="Google Shape;115;p20"/>
          <p:cNvGraphicFramePr/>
          <p:nvPr/>
        </p:nvGraphicFramePr>
        <p:xfrm>
          <a:off x="405700" y="3619087"/>
          <a:ext cx="8332600" cy="1322070"/>
        </p:xfrm>
        <a:graphic>
          <a:graphicData uri="http://schemas.openxmlformats.org/drawingml/2006/table">
            <a:tbl>
              <a:tblPr>
                <a:noFill/>
                <a:tableStyleId>{E49B0CC9-0746-4476-85D7-88C3E481FC8E}</a:tableStyleId>
              </a:tblPr>
              <a:tblGrid>
                <a:gridCol w="2354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6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6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6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6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6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63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7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風險懲罰權重多寡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MAP@10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MAP@30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MRR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NDCG@10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NDCG@30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Mean_rank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無 LLM 風險懲罰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0.6322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0.3856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0.8533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0.7858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0.9119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4.4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LLM風險懲罰權重 = 0.1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0.5953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0.3822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0.8500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0.7645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0.9133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4.8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LLM風險懲罰權重 = 0.2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0.6402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0.3943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1.0000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0.8146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0.9351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LLM風險懲罰權重 = 0.3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0.5960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0.3710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0.9333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0.7922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0.9300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6" name="Google Shape;116;p20"/>
          <p:cNvSpPr/>
          <p:nvPr/>
        </p:nvSpPr>
        <p:spPr>
          <a:xfrm>
            <a:off x="405700" y="4401508"/>
            <a:ext cx="8332500" cy="2859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/>
        </p:nvSpPr>
        <p:spPr>
          <a:xfrm>
            <a:off x="176325" y="250047"/>
            <a:ext cx="65442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方法架構圖</a:t>
            </a:r>
            <a:endParaRPr sz="1600" b="1">
              <a:solidFill>
                <a:schemeClr val="dk2"/>
              </a:solidFill>
            </a:endParaRPr>
          </a:p>
        </p:txBody>
      </p:sp>
      <p:pic>
        <p:nvPicPr>
          <p:cNvPr id="123" name="Google Shape;12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856" y="843577"/>
            <a:ext cx="7960298" cy="426594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/>
        </p:nvSpPr>
        <p:spPr>
          <a:xfrm>
            <a:off x="362325" y="353000"/>
            <a:ext cx="4623300" cy="11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方法流程</a:t>
            </a:r>
            <a:endParaRPr sz="3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2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1600" b="1">
              <a:solidFill>
                <a:schemeClr val="dk2"/>
              </a:solidFill>
            </a:endParaRPr>
          </a:p>
        </p:txBody>
      </p:sp>
      <p:sp>
        <p:nvSpPr>
          <p:cNvPr id="130" name="Google Shape;130;p22"/>
          <p:cNvSpPr txBox="1"/>
          <p:nvPr/>
        </p:nvSpPr>
        <p:spPr>
          <a:xfrm>
            <a:off x="362325" y="1312125"/>
            <a:ext cx="8630700" cy="31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zh-TW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資料表示：</a:t>
            </a: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把 Question + Answer 串起來當成檢索文本；query 端只用原始 Question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zh-TW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雙重 retrieve：</a:t>
            </a: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同一個 query 會做兩種 retrieve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lphaLcPeriod"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BM25 關鍵字 retrieve：使用 jieba 斷詞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lphaLcPeriod"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Dense Retriever 語意 retrieve：使用 Qwen embedding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zh-TW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聯集候選文件：</a:t>
            </a: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聯集 BM25 top-100 和 dense top-100 的候選文件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zh-TW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Rerank：</a:t>
            </a: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聯集後的候選文件交給 Qwen reranker 做初始排序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zh-TW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1" name="Google Shape;13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1305" y="2246550"/>
            <a:ext cx="2799624" cy="2029876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8475" y="568400"/>
            <a:ext cx="3137625" cy="4006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3"/>
          <p:cNvSpPr txBox="1"/>
          <p:nvPr/>
        </p:nvSpPr>
        <p:spPr>
          <a:xfrm>
            <a:off x="362325" y="353000"/>
            <a:ext cx="4623300" cy="11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方法流程 (Cont.)</a:t>
            </a:r>
            <a:endParaRPr sz="3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2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1600" b="1">
              <a:solidFill>
                <a:schemeClr val="dk2"/>
              </a:solidFill>
            </a:endParaRPr>
          </a:p>
        </p:txBody>
      </p:sp>
      <p:sp>
        <p:nvSpPr>
          <p:cNvPr id="139" name="Google Shape;139;p23"/>
          <p:cNvSpPr txBox="1"/>
          <p:nvPr/>
        </p:nvSpPr>
        <p:spPr>
          <a:xfrm>
            <a:off x="362325" y="1318463"/>
            <a:ext cx="6289200" cy="26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 startAt="5"/>
            </a:pPr>
            <a:r>
              <a:rPr lang="zh-TW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LLM 風險懲罰：</a:t>
            </a: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給 Qwen3.5-4B 評估 4 種風險，計算 final_score 重新排序，四個風險分數，範圍都是 0 到 1：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lphaLcPeriod"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topic_mismatch_risk: 主題方向錯誤（weight=0.35）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lphaLcPeriod"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missing_subquery_risk: 遺漏重要子問題（weight=0.30）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lphaLcPeriod"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keyword_only_risk: 只對到關鍵字但沒有真正回答（weight=0.20）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lphaLcPeriod"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shallow_answer_risk: 回答太通用、不夠具體（weight=0.15）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計算加權風險：final_score = rerank_score - ℷ × risk</a:t>
            </a:r>
            <a:b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用 final_score 重新排序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12</a:t>
            </a:fld>
            <a:endParaRPr/>
          </a:p>
        </p:txBody>
      </p:sp>
      <p:sp>
        <p:nvSpPr>
          <p:cNvPr id="146" name="Google Shape;146;p24"/>
          <p:cNvSpPr txBox="1"/>
          <p:nvPr/>
        </p:nvSpPr>
        <p:spPr>
          <a:xfrm>
            <a:off x="455400" y="361450"/>
            <a:ext cx="46233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 2 結果</a:t>
            </a:r>
            <a:endParaRPr sz="1600" b="1">
              <a:solidFill>
                <a:schemeClr val="dk2"/>
              </a:solidFill>
            </a:endParaRPr>
          </a:p>
        </p:txBody>
      </p:sp>
      <p:sp>
        <p:nvSpPr>
          <p:cNvPr id="147" name="Google Shape;147;p24"/>
          <p:cNvSpPr txBox="1"/>
          <p:nvPr/>
        </p:nvSpPr>
        <p:spPr>
          <a:xfrm>
            <a:off x="358950" y="1208650"/>
            <a:ext cx="8426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48" name="Google Shape;148;p24"/>
          <p:cNvGraphicFramePr/>
          <p:nvPr/>
        </p:nvGraphicFramePr>
        <p:xfrm>
          <a:off x="1143900" y="30372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{F73A2766-EBB3-45C7-974A-092212601F0A}</a:tableStyleId>
              </a:tblPr>
              <a:tblGrid>
                <a:gridCol w="103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8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7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MAP@10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MAP@30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MRR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NDCG@10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NDCG@30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Mean Rank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0.6236 (8) 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0.5150 (8)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1.0000 (1)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0.8109 (8)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0.7681 (8)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6.6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9" name="Google Shape;149;p24"/>
          <p:cNvSpPr txBox="1"/>
          <p:nvPr/>
        </p:nvSpPr>
        <p:spPr>
          <a:xfrm>
            <a:off x="531525" y="1082875"/>
            <a:ext cx="7992300" cy="17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評估指標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zh-TW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MAP@K: 衡量模型在前 K 筆結果中，相關答案越早出現越好。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zh-TW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MRR: 衡量第一個相關答案出現在第幾名。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zh-TW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NDCG@K: 前 K 筆結果的排序品質和相關程度。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13</a:t>
            </a:fld>
            <a:endParaRPr/>
          </a:p>
        </p:txBody>
      </p:sp>
      <p:sp>
        <p:nvSpPr>
          <p:cNvPr id="155" name="Google Shape;155;p25"/>
          <p:cNvSpPr txBox="1"/>
          <p:nvPr/>
        </p:nvSpPr>
        <p:spPr>
          <a:xfrm>
            <a:off x="455400" y="361450"/>
            <a:ext cx="46233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結果分析</a:t>
            </a:r>
            <a:endParaRPr sz="1600" b="1">
              <a:solidFill>
                <a:schemeClr val="dk2"/>
              </a:solidFill>
            </a:endParaRPr>
          </a:p>
        </p:txBody>
      </p:sp>
      <p:sp>
        <p:nvSpPr>
          <p:cNvPr id="156" name="Google Shape;156;p25"/>
          <p:cNvSpPr txBox="1"/>
          <p:nvPr/>
        </p:nvSpPr>
        <p:spPr>
          <a:xfrm>
            <a:off x="358950" y="1208650"/>
            <a:ext cx="8426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25"/>
          <p:cNvSpPr txBox="1"/>
          <p:nvPr/>
        </p:nvSpPr>
        <p:spPr>
          <a:xfrm>
            <a:off x="455400" y="1144615"/>
            <a:ext cx="86328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評估方式：使用 Phase 1 方法跑 Phase 2 的 query，只考慮同時存在於 Phase 2 標記結果與實作方法檢索的資料，Phase 2 方法的 </a:t>
            </a:r>
            <a:r>
              <a:rPr lang="zh-TW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Mean Rank 進步兩名</a:t>
            </a:r>
            <a:endParaRPr sz="1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58" name="Google Shape;158;p25"/>
          <p:cNvGraphicFramePr/>
          <p:nvPr/>
        </p:nvGraphicFramePr>
        <p:xfrm>
          <a:off x="650013" y="31573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{E49B0CC9-0746-4476-85D7-88C3E481FC8E}</a:tableStyleId>
              </a:tblPr>
              <a:tblGrid>
                <a:gridCol w="145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4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4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4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40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640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62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方法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MAP@10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MAP@30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MRR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NDCG@10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NDCG@30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Mean Rank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Phase 1 方法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0.4324 (9)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0.3873 (9)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0.8500 (9)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0.8069 (8)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0.7432 (8)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8.6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Phase 2 方法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0.6236 (8)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0.5150 (8)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1.0000 (1)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0.8109 (8)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0.7681 (8)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6.6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9" name="Google Shape;159;p25"/>
          <p:cNvSpPr txBox="1"/>
          <p:nvPr/>
        </p:nvSpPr>
        <p:spPr>
          <a:xfrm>
            <a:off x="455400" y="2051100"/>
            <a:ext cx="8828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方法流程：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zh-TW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 1：Qwen3-Embedding-4B + Qwen3-Reranker-4B + ReFIT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zh-TW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 2：BM25 + Qwen3-Embedding-4B -&gt; union -&gt; Qwen3-Reranker-4B + LLM風險懲罰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1223</Words>
  <Application>Microsoft Macintosh PowerPoint</Application>
  <PresentationFormat>如螢幕大小 (16:9)</PresentationFormat>
  <Paragraphs>264</Paragraphs>
  <Slides>13</Slides>
  <Notes>13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7" baseType="lpstr">
      <vt:lpstr>DFKai-SB</vt:lpstr>
      <vt:lpstr>Arial</vt:lpstr>
      <vt:lpstr>Times New Roman</vt:lpstr>
      <vt:lpstr>Simple Light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劉馨</cp:lastModifiedBy>
  <cp:revision>1</cp:revision>
  <dcterms:modified xsi:type="dcterms:W3CDTF">2026-06-11T06:13:02Z</dcterms:modified>
</cp:coreProperties>
</file>